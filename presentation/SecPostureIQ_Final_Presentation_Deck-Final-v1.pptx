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1" r:id="rId2"/>
    <p:sldId id="263" r:id="rId3"/>
    <p:sldId id="258" r:id="rId4"/>
    <p:sldId id="257" r:id="rId5"/>
    <p:sldId id="259" r:id="rId6"/>
    <p:sldId id="260" r:id="rId7"/>
    <p:sldId id="2563" r:id="rId8"/>
    <p:sldId id="2562" r:id="rId9"/>
  </p:sldIdLst>
  <p:sldSz cx="14630400" cy="8229600"/>
  <p:notesSz cx="8229600" cy="14630400"/>
  <p:embeddedFontLst>
    <p:embeddedFont>
      <p:font typeface="Inter" panose="020B0604020202020204" charset="0"/>
      <p:regular r:id="rId11"/>
    </p:embeddedFont>
    <p:embeddedFont>
      <p:font typeface="Manrope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3645" autoAdjust="0"/>
  </p:normalViewPr>
  <p:slideViewPr>
    <p:cSldViewPr snapToGrid="0" snapToObjects="1">
      <p:cViewPr>
        <p:scale>
          <a:sx n="85" d="100"/>
          <a:sy n="85" d="100"/>
        </p:scale>
        <p:origin x="84" y="-8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1041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ecurity.microsoft.com/securescore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entra.microsoft.com/" TargetMode="External"/><Relationship Id="rId4" Type="http://schemas.openxmlformats.org/officeDocument/2006/relationships/hyperlink" Target="https://compliance.microsoft.com/" TargetMode="Externa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AI-generated content may be incorrect.
---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9EABD-17C4-497C-BDBB-568523B10744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9242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4DA8D-E245-643B-D08A-A39E0C31F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A4EEB7-D79B-F102-1EEE-167F218CA6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39410D-1802-0109-3875-06D97A7D59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95C69C-A06A-8D91-08B0-2E9A74B6CC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52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D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irect portal URLs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the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security portals referenced on Slide 4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Microsoft Secure Score (Microsoft 365 Defender)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Portal: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Microsoft 365 Defender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URL: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https://security.microsoft.com/securescore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where the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Microsoft Secure Score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experience lives today (no longer a standalone portal).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Microsoft Defender (Unified Security Portal)</a:t>
            </a:r>
          </a:p>
          <a:p>
            <a:pPr fontAlgn="t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Portal: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Microsoft 365 Defender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URL: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https://security.microsoft.com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left-hand navigation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select: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Devices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This lands you directly in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Defender for Endpoint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device inventory.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there you can access: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Device details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Vulnerability management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Security recommendations</a:t>
            </a:r>
          </a:p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Alerts &amp; incidents tied to endpoints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Covers Defender for Endpoint, Office 365, Identity, Cloud Apps, incidents, alerts, etc.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Microsoft Purview (Compliance Portal)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Portal: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Microsoft Purview compliance portal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URL: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https://compliance.microsoft.com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Used for data loss prevention, information protection, eDiscovery, insider risk, communication compliance.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Microsoft Entra (Identity &amp; Access)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Portal: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Microsoft Entra admin center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URL: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https://entra.microsoft.com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Identity configuration: Conditional Access, Identity Protection, authentication methods, permissions, tenants.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(Optional) One-liner you can add to Slide 4 (speaker notes)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“In a typical assessment, we jump across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 separate portals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—Defender, Secure Score, Purview, and Entra—navigating dozens of blades just to collect raw data.”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 want, I can: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Shorten these into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slide-friendly labels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icons + QR codes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 align each URL to the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 blade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your agent queries (e.g., Secure Score recommendations vs overall score)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395BF-E5E8-177B-6A3F-7E774DC2D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402308-F0F3-2FF9-D2C3-A76BF81685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10CB03-36EB-7506-568A-8555D19AE8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F9504E-A8D1-6655-F41F-73E71172A2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0819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FC88A-4DCF-FEA6-CE74-88232BDB3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A3F188-939E-52F9-6BB1-8B694EE0FC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303877-A3BC-DAD5-5C37-0712CEDA60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5905B-67D2-9DAF-38B1-76597067EB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02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88632" y="1651696"/>
            <a:ext cx="4601752" cy="32369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32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88632" y="4888672"/>
            <a:ext cx="4319052" cy="139470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lnSpc>
                <a:spcPct val="100000"/>
              </a:lnSpc>
              <a:buNone/>
              <a:defRPr lang="en-US" sz="192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51CC2D7F-4DE5-3D21-470F-8B959A5C44D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729282" cy="7315200"/>
          </a:xfrm>
          <a:custGeom>
            <a:avLst/>
            <a:gdLst>
              <a:gd name="connsiteX0" fmla="*/ 0 w 7274402"/>
              <a:gd name="connsiteY0" fmla="*/ 0 h 6096000"/>
              <a:gd name="connsiteX1" fmla="*/ 7274402 w 7274402"/>
              <a:gd name="connsiteY1" fmla="*/ 0 h 6096000"/>
              <a:gd name="connsiteX2" fmla="*/ 7274402 w 7274402"/>
              <a:gd name="connsiteY2" fmla="*/ 5598011 h 6096000"/>
              <a:gd name="connsiteX3" fmla="*/ 6779450 w 7274402"/>
              <a:gd name="connsiteY3" fmla="*/ 6096000 h 6096000"/>
              <a:gd name="connsiteX4" fmla="*/ 0 w 7274402"/>
              <a:gd name="connsiteY4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74402" h="6096000">
                <a:moveTo>
                  <a:pt x="0" y="0"/>
                </a:moveTo>
                <a:lnTo>
                  <a:pt x="7274402" y="0"/>
                </a:lnTo>
                <a:lnTo>
                  <a:pt x="7274402" y="5598011"/>
                </a:lnTo>
                <a:cubicBezTo>
                  <a:pt x="7274402" y="5873043"/>
                  <a:pt x="7052804" y="6096000"/>
                  <a:pt x="6779450" y="6096000"/>
                </a:cubicBezTo>
                <a:lnTo>
                  <a:pt x="0" y="6096000"/>
                </a:ln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3664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559F0-9D05-1EB9-DDD5-BFC837C617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88632" y="1311727"/>
            <a:ext cx="4601752" cy="3108022"/>
          </a:xfrm>
        </p:spPr>
        <p:txBody>
          <a:bodyPr anchor="b">
            <a:normAutofit/>
          </a:bodyPr>
          <a:lstStyle/>
          <a:p>
            <a:r>
              <a:rPr lang="en-US" sz="4800" b="1" dirty="0"/>
              <a:t>Posture IQ</a:t>
            </a:r>
            <a:br>
              <a:rPr lang="en-US" sz="3360" b="1" dirty="0"/>
            </a:br>
            <a:br>
              <a:rPr lang="en-US" sz="3360" dirty="0"/>
            </a:br>
            <a:r>
              <a:rPr lang="en-US" sz="3360" dirty="0"/>
              <a:t>ME5 Security Posture Assessment Agent</a:t>
            </a:r>
            <a:br>
              <a:rPr lang="en-US" sz="3360" dirty="0"/>
            </a:br>
            <a:endParaRPr lang="en-US" sz="336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46FEFB-A5E8-5B2E-DECF-829FDA618E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88632" y="4888672"/>
            <a:ext cx="4319052" cy="1394700"/>
          </a:xfrm>
        </p:spPr>
        <p:txBody>
          <a:bodyPr anchor="ctr">
            <a:normAutofit/>
          </a:bodyPr>
          <a:lstStyle/>
          <a:p>
            <a:pPr fontAlgn="t"/>
            <a:r>
              <a:rPr lang="en-US" dirty="0"/>
              <a:t>Accelerating security evaluations — from weeks to minutes</a:t>
            </a:r>
          </a:p>
        </p:txBody>
      </p:sp>
      <p:pic>
        <p:nvPicPr>
          <p:cNvPr id="4" name="Picture 3" descr="Transparent padlock">
            <a:extLst>
              <a:ext uri="{FF2B5EF4-FFF2-40B4-BE49-F238E27FC236}">
                <a16:creationId xmlns:a16="http://schemas.microsoft.com/office/drawing/2014/main" id="{BE1E487F-55C3-4C8D-BDA4-D579DFDCD4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838" b="-1"/>
          <a:stretch>
            <a:fillRect/>
          </a:stretch>
        </p:blipFill>
        <p:spPr>
          <a:xfrm>
            <a:off x="24" y="12"/>
            <a:ext cx="8729258" cy="7315188"/>
          </a:xfrm>
          <a:custGeom>
            <a:avLst/>
            <a:gdLst>
              <a:gd name="connsiteX0" fmla="*/ 0 w 7274402"/>
              <a:gd name="connsiteY0" fmla="*/ 0 h 6096000"/>
              <a:gd name="connsiteX1" fmla="*/ 7274402 w 7274402"/>
              <a:gd name="connsiteY1" fmla="*/ 0 h 6096000"/>
              <a:gd name="connsiteX2" fmla="*/ 7274402 w 7274402"/>
              <a:gd name="connsiteY2" fmla="*/ 5598011 h 6096000"/>
              <a:gd name="connsiteX3" fmla="*/ 6779450 w 7274402"/>
              <a:gd name="connsiteY3" fmla="*/ 6096000 h 6096000"/>
              <a:gd name="connsiteX4" fmla="*/ 0 w 7274402"/>
              <a:gd name="connsiteY4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74402" h="6096000">
                <a:moveTo>
                  <a:pt x="0" y="0"/>
                </a:moveTo>
                <a:lnTo>
                  <a:pt x="7274402" y="0"/>
                </a:lnTo>
                <a:lnTo>
                  <a:pt x="7274402" y="5598011"/>
                </a:lnTo>
                <a:cubicBezTo>
                  <a:pt x="7274402" y="5873043"/>
                  <a:pt x="7052804" y="6096000"/>
                  <a:pt x="6779450" y="6096000"/>
                </a:cubicBezTo>
                <a:lnTo>
                  <a:pt x="0" y="6096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85757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1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C9EB0-2BC9-18E5-BBE1-73AB7DD7D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313A51F2-7FD0-B8CC-CE65-40C2E0C1BA5A}"/>
              </a:ext>
            </a:extLst>
          </p:cNvPr>
          <p:cNvSpPr/>
          <p:nvPr/>
        </p:nvSpPr>
        <p:spPr>
          <a:xfrm>
            <a:off x="793790" y="2468047"/>
            <a:ext cx="7556421" cy="2126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00"/>
              </a:lnSpc>
              <a:buNone/>
            </a:pPr>
            <a:r>
              <a:rPr lang="en-US" sz="10000" b="1" dirty="0">
                <a:solidFill>
                  <a:srgbClr val="FF70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</a:t>
            </a:r>
            <a:r>
              <a:rPr lang="en-US" sz="13350" b="1" dirty="0">
                <a:solidFill>
                  <a:srgbClr val="FF70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4.44M</a:t>
            </a:r>
            <a:endParaRPr lang="en-US" sz="13350" b="1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8BC8148-7D4F-69C9-3695-867890BC7232}"/>
              </a:ext>
            </a:extLst>
          </p:cNvPr>
          <p:cNvSpPr/>
          <p:nvPr/>
        </p:nvSpPr>
        <p:spPr>
          <a:xfrm>
            <a:off x="793790" y="493466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Average cost of a </a:t>
            </a:r>
            <a:r>
              <a:rPr lang="en-US" sz="36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breach </a:t>
            </a: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 the risk our customers are carrying today.</a:t>
            </a:r>
            <a:endParaRPr lang="en-US" sz="17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C028B29-20D1-3A25-688B-AC195607D2B9}"/>
              </a:ext>
            </a:extLst>
          </p:cNvPr>
          <p:cNvSpPr/>
          <p:nvPr/>
        </p:nvSpPr>
        <p:spPr>
          <a:xfrm>
            <a:off x="793790" y="591562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Security investment alone can't prevent this. </a:t>
            </a:r>
            <a:r>
              <a:rPr lang="en-US" sz="3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Assessment</a:t>
            </a: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does.</a:t>
            </a:r>
            <a:endParaRPr lang="en-US" sz="175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8CC44E-D57D-4614-F5F8-B1DAC5E94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712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436" y="1676638"/>
            <a:ext cx="6571417" cy="4876205"/>
          </a:xfrm>
          <a:prstGeom prst="roundRect">
            <a:avLst>
              <a:gd name="adj" fmla="val 6698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7250" y="1783080"/>
            <a:ext cx="6117788" cy="4640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0"/>
              </a:lnSpc>
              <a:buNone/>
            </a:pPr>
            <a:endParaRPr lang="en-US" sz="9600" dirty="0">
              <a:solidFill>
                <a:srgbClr val="0C0D0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ctr">
              <a:lnSpc>
                <a:spcPts val="7700"/>
              </a:lnSpc>
              <a:buNone/>
            </a:pPr>
            <a:r>
              <a:rPr lang="en-US" sz="96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Licensed ≠ Protected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599521" y="1903452"/>
            <a:ext cx="505265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Gap Is Assessment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599521" y="2697242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tools aren't the problem. Microsoft 365, Defender, Purview — they're best-in-class. But buying security and </a:t>
            </a:r>
            <a:r>
              <a:rPr lang="en-US" sz="17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being protected</a:t>
            </a: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are two very different things.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99002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gap lives between deployment and validation. Most organizations never close it.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599521" y="4970978"/>
            <a:ext cx="6244709" cy="1326713"/>
          </a:xfrm>
          <a:prstGeom prst="roundRect">
            <a:avLst>
              <a:gd name="adj" fmla="val 15387"/>
            </a:avLst>
          </a:prstGeom>
          <a:solidFill>
            <a:srgbClr val="FFC4B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6335" y="5322689"/>
            <a:ext cx="283488" cy="22681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336637" y="5073193"/>
            <a:ext cx="528077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Security posture degrades silently. Without assessment, you don't know what you don't know.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303" y="1157407"/>
            <a:ext cx="7414498" cy="63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World Before ME5 Agent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13303" y="2170628"/>
            <a:ext cx="2419826" cy="672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50"/>
              </a:lnSpc>
              <a:buNone/>
            </a:pPr>
            <a:r>
              <a:rPr lang="en-US" sz="52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5250" dirty="0"/>
          </a:p>
        </p:txBody>
      </p:sp>
      <p:sp>
        <p:nvSpPr>
          <p:cNvPr id="5" name="Text 2"/>
          <p:cNvSpPr/>
          <p:nvPr/>
        </p:nvSpPr>
        <p:spPr>
          <a:xfrm>
            <a:off x="713303" y="3082171"/>
            <a:ext cx="2419826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Portals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13303" y="3510439"/>
            <a:ext cx="2419826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Secure Score, Defender, Purview, Entra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361968" y="2170628"/>
            <a:ext cx="2419945" cy="672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50"/>
              </a:lnSpc>
              <a:buNone/>
            </a:pPr>
            <a:r>
              <a:rPr lang="en-US" sz="52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12+</a:t>
            </a:r>
            <a:endParaRPr lang="en-US" sz="5250" dirty="0"/>
          </a:p>
        </p:txBody>
      </p:sp>
      <p:sp>
        <p:nvSpPr>
          <p:cNvPr id="8" name="Text 5"/>
          <p:cNvSpPr/>
          <p:nvPr/>
        </p:nvSpPr>
        <p:spPr>
          <a:xfrm>
            <a:off x="3361968" y="3082171"/>
            <a:ext cx="2419945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Sub-pages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3361968" y="3510439"/>
            <a:ext cx="2419945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Blades within blades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010751" y="2170628"/>
            <a:ext cx="2419945" cy="672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50"/>
              </a:lnSpc>
              <a:buNone/>
            </a:pPr>
            <a:r>
              <a:rPr lang="en-US" sz="52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</a:t>
            </a:r>
            <a:endParaRPr lang="en-US" sz="5250" dirty="0"/>
          </a:p>
        </p:txBody>
      </p:sp>
      <p:sp>
        <p:nvSpPr>
          <p:cNvPr id="11" name="Text 8"/>
          <p:cNvSpPr/>
          <p:nvPr/>
        </p:nvSpPr>
        <p:spPr>
          <a:xfrm>
            <a:off x="6010751" y="3082171"/>
            <a:ext cx="2419945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Minutes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010751" y="3510439"/>
            <a:ext cx="2419945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Just to collect data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61968" y="4597598"/>
            <a:ext cx="2419945" cy="672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50"/>
              </a:lnSpc>
              <a:buNone/>
            </a:pPr>
            <a:r>
              <a:rPr lang="en-US" sz="52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5250" dirty="0"/>
          </a:p>
        </p:txBody>
      </p:sp>
      <p:sp>
        <p:nvSpPr>
          <p:cNvPr id="14" name="Text 11"/>
          <p:cNvSpPr/>
          <p:nvPr/>
        </p:nvSpPr>
        <p:spPr>
          <a:xfrm>
            <a:off x="3361968" y="5509141"/>
            <a:ext cx="2419945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4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Assessment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361968" y="5937409"/>
            <a:ext cx="2419945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dirty="0">
                <a:solidFill>
                  <a:srgbClr val="55575A"/>
                </a:solidFill>
                <a:latin typeface="Manrope" pitchFamily="34" charset="0"/>
              </a:rPr>
              <a:t>Lots Manual Effort</a:t>
            </a:r>
          </a:p>
        </p:txBody>
      </p:sp>
      <p:sp>
        <p:nvSpPr>
          <p:cNvPr id="16" name="Text 13"/>
          <p:cNvSpPr/>
          <p:nvPr/>
        </p:nvSpPr>
        <p:spPr>
          <a:xfrm>
            <a:off x="713303" y="6452949"/>
            <a:ext cx="7717393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Four portals. Dozens of blades. Many hours just to collect and curate data — before a single insight is shared with a customer.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2036088"/>
            <a:ext cx="1164908" cy="426244"/>
          </a:xfrm>
          <a:prstGeom prst="roundRect">
            <a:avLst>
              <a:gd name="adj" fmla="val 38315"/>
            </a:avLst>
          </a:prstGeom>
          <a:solidFill>
            <a:srgbClr val="FFD7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929878" y="2104073"/>
            <a:ext cx="89273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2553057"/>
            <a:ext cx="75564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a full security assessment.</a:t>
            </a:r>
            <a:endParaRPr lang="en-US" sz="6150" dirty="0"/>
          </a:p>
        </p:txBody>
      </p:sp>
      <p:sp>
        <p:nvSpPr>
          <p:cNvPr id="6" name="Text 3"/>
          <p:cNvSpPr/>
          <p:nvPr/>
        </p:nvSpPr>
        <p:spPr>
          <a:xfrm>
            <a:off x="793790" y="484965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One conversation. Live data.</a:t>
            </a: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Everything you just saw — replaced.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46770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Watch it happen in real time, right now, against a real Microsoft 365 environment.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132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Works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758315"/>
            <a:ext cx="704850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Built for Trust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4141113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9638943" y="30340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Copilot SDK Runtime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38943" y="3615214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 didn't build a planner. We declared intent. The SDK runtime orchestrates everything — dynamically, in real time.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638943" y="4907994"/>
            <a:ext cx="420516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Simple enough for business leaders. Rigorous enough for engineers.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93790" y="6093023"/>
            <a:ext cx="4196358" cy="823198"/>
          </a:xfrm>
          <a:prstGeom prst="roundRect">
            <a:avLst>
              <a:gd name="adj" fmla="val 24799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28224" y="63274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Copilot SDK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216962" y="6093023"/>
            <a:ext cx="4196358" cy="823198"/>
          </a:xfrm>
          <a:prstGeom prst="roundRect">
            <a:avLst>
              <a:gd name="adj" fmla="val 24799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51396" y="63274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Specialized Tools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9640133" y="6093023"/>
            <a:ext cx="4196358" cy="823198"/>
          </a:xfrm>
          <a:prstGeom prst="roundRect">
            <a:avLst>
              <a:gd name="adj" fmla="val 24799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874568" y="63274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Guardrails by Design</a:t>
            </a:r>
            <a:endParaRPr lang="en-US" sz="2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2530AD2-9DD4-D38D-8BF6-380001759D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408" y="2478584"/>
            <a:ext cx="6287264" cy="34972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EB0AE-A2F3-B93A-22B8-EA3024B23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7CAC2B6E-FC08-3138-1E12-1F5A6738C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D04E4A8F-7A85-D167-2D5C-107A02105653}"/>
              </a:ext>
            </a:extLst>
          </p:cNvPr>
          <p:cNvSpPr/>
          <p:nvPr/>
        </p:nvSpPr>
        <p:spPr>
          <a:xfrm>
            <a:off x="669250" y="851297"/>
            <a:ext cx="7805499" cy="1194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That Doesn't Compromise</a:t>
            </a:r>
            <a:endParaRPr lang="en-US" sz="37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24759EF-4BC4-8D6F-CCB1-4C49744D5B08}"/>
              </a:ext>
            </a:extLst>
          </p:cNvPr>
          <p:cNvSpPr/>
          <p:nvPr/>
        </p:nvSpPr>
        <p:spPr>
          <a:xfrm>
            <a:off x="669250" y="2288024"/>
            <a:ext cx="7805499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If a security agent isn't secure, it has no credibility. Every design decision was made to earn yours — and your customers'.</a:t>
            </a:r>
            <a:endParaRPr lang="en-US" sz="15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525DD309-7E79-F0A8-3863-8DCBE6A77145}"/>
              </a:ext>
            </a:extLst>
          </p:cNvPr>
          <p:cNvSpPr/>
          <p:nvPr/>
        </p:nvSpPr>
        <p:spPr>
          <a:xfrm>
            <a:off x="669250" y="3033236"/>
            <a:ext cx="3822144" cy="2373868"/>
          </a:xfrm>
          <a:prstGeom prst="roundRect">
            <a:avLst>
              <a:gd name="adj" fmla="val 7250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86F70D9F-EE0A-9B1A-1C96-AE592146D231}"/>
              </a:ext>
            </a:extLst>
          </p:cNvPr>
          <p:cNvSpPr/>
          <p:nvPr/>
        </p:nvSpPr>
        <p:spPr>
          <a:xfrm>
            <a:off x="868085" y="3232071"/>
            <a:ext cx="573643" cy="573643"/>
          </a:xfrm>
          <a:prstGeom prst="roundRect">
            <a:avLst>
              <a:gd name="adj" fmla="val 15938634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9B6C7E46-7A22-0BC7-B623-C8A068A61F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5843" y="3389828"/>
            <a:ext cx="258128" cy="258128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6190D24A-3510-B942-761C-6C716C041B35}"/>
              </a:ext>
            </a:extLst>
          </p:cNvPr>
          <p:cNvSpPr/>
          <p:nvPr/>
        </p:nvSpPr>
        <p:spPr>
          <a:xfrm>
            <a:off x="868085" y="3966924"/>
            <a:ext cx="2390418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Read-Only</a:t>
            </a:r>
            <a:endParaRPr lang="en-US" sz="185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E91DAF51-C056-C617-3ABC-0677FD358853}"/>
              </a:ext>
            </a:extLst>
          </p:cNvPr>
          <p:cNvSpPr/>
          <p:nvPr/>
        </p:nvSpPr>
        <p:spPr>
          <a:xfrm>
            <a:off x="868085" y="4362450"/>
            <a:ext cx="3424476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Zero write permissions. The agent observes — it never modifies tenant configuration.</a:t>
            </a:r>
            <a:endParaRPr lang="en-US" sz="15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8D3A88EF-F30A-18C1-BBE0-5D8FDFFF0862}"/>
              </a:ext>
            </a:extLst>
          </p:cNvPr>
          <p:cNvSpPr/>
          <p:nvPr/>
        </p:nvSpPr>
        <p:spPr>
          <a:xfrm>
            <a:off x="4652605" y="3033236"/>
            <a:ext cx="3822144" cy="2373868"/>
          </a:xfrm>
          <a:prstGeom prst="roundRect">
            <a:avLst>
              <a:gd name="adj" fmla="val 7250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038004F0-1022-800C-8CE8-9ADED4536F5B}"/>
              </a:ext>
            </a:extLst>
          </p:cNvPr>
          <p:cNvSpPr/>
          <p:nvPr/>
        </p:nvSpPr>
        <p:spPr>
          <a:xfrm>
            <a:off x="4851440" y="3232071"/>
            <a:ext cx="573643" cy="573643"/>
          </a:xfrm>
          <a:prstGeom prst="roundRect">
            <a:avLst>
              <a:gd name="adj" fmla="val 15938634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7473FAD0-8650-0ABC-4F70-9AA5BD0C27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9198" y="3389828"/>
            <a:ext cx="258128" cy="258128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AEA242B4-3DC6-9294-94DE-808D823F5C2D}"/>
              </a:ext>
            </a:extLst>
          </p:cNvPr>
          <p:cNvSpPr/>
          <p:nvPr/>
        </p:nvSpPr>
        <p:spPr>
          <a:xfrm>
            <a:off x="4851440" y="3966924"/>
            <a:ext cx="2390418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PII-Safe</a:t>
            </a:r>
            <a:endParaRPr lang="en-US" sz="185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4854BE9A-C9C9-31B9-DE9E-FCC9802CA559}"/>
              </a:ext>
            </a:extLst>
          </p:cNvPr>
          <p:cNvSpPr/>
          <p:nvPr/>
        </p:nvSpPr>
        <p:spPr>
          <a:xfrm>
            <a:off x="4851440" y="4362450"/>
            <a:ext cx="3424476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personal data is stored, transmitted, or surfaced. Compliance-ready by design.</a:t>
            </a:r>
            <a:endParaRPr lang="en-US" sz="1500" dirty="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82B5D533-D374-ADC5-E133-8EF27CE11E5A}"/>
              </a:ext>
            </a:extLst>
          </p:cNvPr>
          <p:cNvSpPr/>
          <p:nvPr/>
        </p:nvSpPr>
        <p:spPr>
          <a:xfrm>
            <a:off x="669250" y="5568315"/>
            <a:ext cx="7805499" cy="1809988"/>
          </a:xfrm>
          <a:prstGeom prst="roundRect">
            <a:avLst>
              <a:gd name="adj" fmla="val 9509"/>
            </a:avLst>
          </a:prstGeom>
          <a:solidFill>
            <a:srgbClr val="FFFFFF"/>
          </a:solidFill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BEB5EE21-EFBF-F5F9-C14A-E93FF7DB2194}"/>
              </a:ext>
            </a:extLst>
          </p:cNvPr>
          <p:cNvSpPr/>
          <p:nvPr/>
        </p:nvSpPr>
        <p:spPr>
          <a:xfrm>
            <a:off x="868085" y="5767149"/>
            <a:ext cx="573643" cy="573643"/>
          </a:xfrm>
          <a:prstGeom prst="roundRect">
            <a:avLst>
              <a:gd name="adj" fmla="val 15938634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7B3A25A7-FE08-1C27-84A2-6D231250D0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5843" y="5924907"/>
            <a:ext cx="258128" cy="258128"/>
          </a:xfrm>
          <a:prstGeom prst="rect">
            <a:avLst/>
          </a:prstGeom>
        </p:spPr>
      </p:pic>
      <p:sp>
        <p:nvSpPr>
          <p:cNvPr id="18" name="Text 12">
            <a:extLst>
              <a:ext uri="{FF2B5EF4-FFF2-40B4-BE49-F238E27FC236}">
                <a16:creationId xmlns:a16="http://schemas.microsoft.com/office/drawing/2014/main" id="{7AB27637-449A-69F2-4EF7-395701D3C305}"/>
              </a:ext>
            </a:extLst>
          </p:cNvPr>
          <p:cNvSpPr/>
          <p:nvPr/>
        </p:nvSpPr>
        <p:spPr>
          <a:xfrm>
            <a:off x="868085" y="6502003"/>
            <a:ext cx="2390418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Immutably Audited</a:t>
            </a:r>
            <a:endParaRPr lang="en-US" sz="185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42DBC251-7DFF-16A2-C554-418692DD6679}"/>
              </a:ext>
            </a:extLst>
          </p:cNvPr>
          <p:cNvSpPr/>
          <p:nvPr/>
        </p:nvSpPr>
        <p:spPr>
          <a:xfrm>
            <a:off x="868085" y="6897529"/>
            <a:ext cx="7407831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action is logged and tamper-proof. Full traceability for every assessment run.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599823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CA797-516B-D5DF-9F31-8332796D0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DB55264-F806-2AE0-89F5-CAAA39507B10}"/>
              </a:ext>
            </a:extLst>
          </p:cNvPr>
          <p:cNvSpPr/>
          <p:nvPr/>
        </p:nvSpPr>
        <p:spPr>
          <a:xfrm>
            <a:off x="630436" y="1608058"/>
            <a:ext cx="6571417" cy="5013484"/>
          </a:xfrm>
          <a:prstGeom prst="roundRect">
            <a:avLst>
              <a:gd name="adj" fmla="val 6515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913ACBE-EE51-6DE6-D4BF-4324CF583296}"/>
              </a:ext>
            </a:extLst>
          </p:cNvPr>
          <p:cNvSpPr/>
          <p:nvPr/>
        </p:nvSpPr>
        <p:spPr>
          <a:xfrm>
            <a:off x="857250" y="1834872"/>
            <a:ext cx="6117788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→ Minutes.</a:t>
            </a:r>
            <a:endParaRPr lang="en-US" sz="61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1B452F8-BF06-9935-CF2F-08F117E992A3}"/>
              </a:ext>
            </a:extLst>
          </p:cNvPr>
          <p:cNvSpPr/>
          <p:nvPr/>
        </p:nvSpPr>
        <p:spPr>
          <a:xfrm>
            <a:off x="857250" y="4018121"/>
            <a:ext cx="6117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 enterprise scale.</a:t>
            </a:r>
            <a:endParaRPr lang="en-US" sz="1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48EABE0-34F1-EB17-BFE3-5C57D74304EF}"/>
              </a:ext>
            </a:extLst>
          </p:cNvPr>
          <p:cNvSpPr/>
          <p:nvPr/>
        </p:nvSpPr>
        <p:spPr>
          <a:xfrm>
            <a:off x="7599521" y="1834872"/>
            <a:ext cx="6244709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Wins for Your Business</a:t>
            </a:r>
            <a:endParaRPr lang="en-US" sz="35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3C239F9-72CD-F0E1-F7A1-A4BEF6E0DC17}"/>
              </a:ext>
            </a:extLst>
          </p:cNvPr>
          <p:cNvSpPr/>
          <p:nvPr/>
        </p:nvSpPr>
        <p:spPr>
          <a:xfrm>
            <a:off x="7599521" y="319563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 turned week-long security assessment into minutes of conversation — </a:t>
            </a:r>
            <a:r>
              <a:rPr lang="en-US" sz="2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safely, repeatably, and at scale</a:t>
            </a: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7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082C54F-9AF5-3A4D-6DF8-9305B5A337B6}"/>
              </a:ext>
            </a:extLst>
          </p:cNvPr>
          <p:cNvSpPr/>
          <p:nvPr/>
        </p:nvSpPr>
        <p:spPr>
          <a:xfrm>
            <a:off x="7599521" y="4289974"/>
            <a:ext cx="6244709" cy="35957"/>
          </a:xfrm>
          <a:prstGeom prst="rect">
            <a:avLst/>
          </a:prstGeom>
          <a:solidFill>
            <a:srgbClr val="55575A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2F9B76D-B2AE-E895-8D8A-5370BCC7096C}"/>
              </a:ext>
            </a:extLst>
          </p:cNvPr>
          <p:cNvSpPr/>
          <p:nvPr/>
        </p:nvSpPr>
        <p:spPr>
          <a:xfrm>
            <a:off x="7599521" y="458104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isn't a productivity gain. It's a </a:t>
            </a:r>
            <a:r>
              <a:rPr lang="en-US" sz="24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Strategic Shift</a:t>
            </a:r>
            <a:r>
              <a:rPr lang="en-US" sz="2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 how account teams </a:t>
            </a:r>
            <a:r>
              <a:rPr lang="en-US" sz="2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Deliver security value </a:t>
            </a:r>
            <a:r>
              <a:rPr lang="en-US" sz="1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 and how organizations understand their own risk posture.</a:t>
            </a:r>
            <a:endParaRPr lang="en-US" sz="17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9FC94D5-2277-2DE3-477A-C4FAE82ADD24}"/>
              </a:ext>
            </a:extLst>
          </p:cNvPr>
          <p:cNvSpPr/>
          <p:nvPr/>
        </p:nvSpPr>
        <p:spPr>
          <a:xfrm>
            <a:off x="7599521" y="5932527"/>
            <a:ext cx="2165033" cy="426244"/>
          </a:xfrm>
          <a:prstGeom prst="roundRect">
            <a:avLst>
              <a:gd name="adj" fmla="val 38315"/>
            </a:avLst>
          </a:prstGeom>
          <a:solidFill>
            <a:srgbClr val="FFD7C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5964DEE-B1F2-3DC4-4C73-5A1DBD4625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35610" y="6054923"/>
            <a:ext cx="181451" cy="181451"/>
          </a:xfrm>
          <a:prstGeom prst="rect">
            <a:avLst/>
          </a:prstGeom>
        </p:spPr>
      </p:pic>
      <p:sp>
        <p:nvSpPr>
          <p:cNvPr id="11" name="Text 8">
            <a:extLst>
              <a:ext uri="{FF2B5EF4-FFF2-40B4-BE49-F238E27FC236}">
                <a16:creationId xmlns:a16="http://schemas.microsoft.com/office/drawing/2014/main" id="{CC26655C-ADBE-3B4F-D311-DB985D78EEF5}"/>
              </a:ext>
            </a:extLst>
          </p:cNvPr>
          <p:cNvSpPr/>
          <p:nvPr/>
        </p:nvSpPr>
        <p:spPr>
          <a:xfrm>
            <a:off x="8007787" y="6000512"/>
            <a:ext cx="162067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ENTERPRISE READY</a:t>
            </a:r>
            <a:endParaRPr lang="en-US" sz="14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09B9F471-396D-8E74-BC1B-34BB70778BAB}"/>
              </a:ext>
            </a:extLst>
          </p:cNvPr>
          <p:cNvSpPr/>
          <p:nvPr/>
        </p:nvSpPr>
        <p:spPr>
          <a:xfrm>
            <a:off x="9877901" y="5924907"/>
            <a:ext cx="1522571" cy="441484"/>
          </a:xfrm>
          <a:prstGeom prst="roundRect">
            <a:avLst>
              <a:gd name="adj" fmla="val 36993"/>
            </a:avLst>
          </a:prstGeom>
          <a:noFill/>
          <a:ln w="762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2D49C173-5493-EE86-A91E-1277A39D44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21610" y="6054923"/>
            <a:ext cx="181451" cy="181451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97E8BF02-ADA0-60D4-79D8-4C60A35E7776}"/>
              </a:ext>
            </a:extLst>
          </p:cNvPr>
          <p:cNvSpPr/>
          <p:nvPr/>
        </p:nvSpPr>
        <p:spPr>
          <a:xfrm>
            <a:off x="10293787" y="6000512"/>
            <a:ext cx="96297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AUDIT SAFE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9580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737</Words>
  <Application>Microsoft Office PowerPoint</Application>
  <PresentationFormat>Custom</PresentationFormat>
  <Paragraphs>93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Inter</vt:lpstr>
      <vt:lpstr>Manrope</vt:lpstr>
      <vt:lpstr>Arial</vt:lpstr>
      <vt:lpstr>Office Theme</vt:lpstr>
      <vt:lpstr>Posture IQ  ME5 Security Posture Assessment Agent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Velen Liang</cp:lastModifiedBy>
  <cp:revision>10</cp:revision>
  <dcterms:created xsi:type="dcterms:W3CDTF">2026-03-22T20:22:26Z</dcterms:created>
  <dcterms:modified xsi:type="dcterms:W3CDTF">2026-03-24T00:41:07Z</dcterms:modified>
</cp:coreProperties>
</file>